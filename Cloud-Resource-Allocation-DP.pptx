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Vary n  (W = 500 fixed)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(ms)</c:v>
                </c:pt>
              </c:strCache>
            </c:strRef>
          </c:tx>
          <c:spPr>
            <a:solidFill>
              <a:srgbClr val="1565C0"/>
            </a:solidFill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400</c:v>
                  </c:pt>
                  <c:pt idx="4">
                    <c:v>800</c:v>
                  </c:pt>
                  <c:pt idx="5">
                    <c:v>1200</c:v>
                  </c:pt>
                  <c:pt idx="6">
                    <c:v>1600</c:v>
                  </c:pt>
                  <c:pt idx="7">
                    <c:v>2000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1.6</c:v>
                </c:pt>
                <c:pt idx="2">
                  <c:v>3.2</c:v>
                </c:pt>
                <c:pt idx="3">
                  <c:v>6.5</c:v>
                </c:pt>
                <c:pt idx="4">
                  <c:v>13.1</c:v>
                </c:pt>
                <c:pt idx="5">
                  <c:v>19.8</c:v>
                </c:pt>
                <c:pt idx="6">
                  <c:v>26.4</c:v>
                </c:pt>
                <c:pt idx="7">
                  <c:v>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Tasks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E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Runtime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E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Vary W  (n = 200 fixed)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(ms)</c:v>
                </c:pt>
              </c:strCache>
            </c:strRef>
          </c:tx>
          <c:spPr>
            <a:solidFill>
              <a:srgbClr val="0097A7"/>
            </a:solidFill>
            <a:ln w="38100" cap="flat">
              <a:solidFill>
                <a:srgbClr val="0097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7A7"/>
              </a:solidFill>
              <a:ln w="9525" cap="flat">
                <a:solidFill>
                  <a:srgbClr val="0097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100</c:v>
                  </c:pt>
                  <c:pt idx="1">
                    <c:v>200</c:v>
                  </c:pt>
                  <c:pt idx="2">
                    <c:v>500</c:v>
                  </c:pt>
                  <c:pt idx="3">
                    <c:v>1000</c:v>
                  </c:pt>
                  <c:pt idx="4">
                    <c:v>2000</c:v>
                  </c:pt>
                  <c:pt idx="5">
                    <c:v>4000</c:v>
                  </c:pt>
                  <c:pt idx="6">
                    <c:v>6000</c:v>
                  </c:pt>
                  <c:pt idx="7">
                    <c:v>8000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</c:v>
                </c:pt>
                <c:pt idx="1">
                  <c:v>0.6</c:v>
                </c:pt>
                <c:pt idx="2">
                  <c:v>1.6</c:v>
                </c:pt>
                <c:pt idx="3">
                  <c:v>3.2</c:v>
                </c:pt>
                <c:pt idx="4">
                  <c:v>6.4</c:v>
                </c:pt>
                <c:pt idx="5">
                  <c:v>12.9</c:v>
                </c:pt>
                <c:pt idx="6">
                  <c:v>19.3</c:v>
                </c:pt>
                <c:pt idx="7">
                  <c:v>25.8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Capacity (W)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E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Runtime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E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 Allocation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Dynamic Programming — 0/1 Knapsack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optimal algorithm design approach for maximising workload profit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B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constrained cloud infrastructure budgets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804672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685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 YADAV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1RF24CS094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3685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MIKUL SWAMY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889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1RF24CS103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3685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AASHIM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1RF24CS105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03720" y="3685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ALI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037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1RF24CS106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0" y="46908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College of Engineering  |  ADA Assignment —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Resource Challenge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providers manage thousands of VMs, containers, and serverless functions simultaneously. Deciding which workloads to schedule — given a fixed resource budget — is non-trivial and directly affects revenue.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over-provisioning wastes millions in idle capacity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Under-provisioning leads to SLA violations and churn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heuristics can miss 20–40% of optimal profit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DP guarantees the globally optimal schedule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977640" cy="1097280"/>
          </a:xfrm>
          <a:prstGeom prst="rect">
            <a:avLst/>
          </a:prstGeom>
          <a:solidFill>
            <a:srgbClr val="0F2D4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8961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00600" y="144475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idle resource waste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smart scheduling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121408"/>
            <a:ext cx="3977640" cy="1097280"/>
          </a:xfrm>
          <a:prstGeom prst="rect">
            <a:avLst/>
          </a:prstGeom>
          <a:solidFill>
            <a:srgbClr val="0F2D4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1945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O(n×W)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800600" y="27432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optimal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time complexity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419856"/>
            <a:ext cx="3977640" cy="1097280"/>
          </a:xfrm>
          <a:prstGeom prst="rect">
            <a:avLst/>
          </a:prstGeom>
          <a:solidFill>
            <a:srgbClr val="0F2D4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34930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800600" y="40416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accuracy 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approaches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cloud budget of W resource units and n workload tasks — each requiring r_i units and yielding profit p_i — select a subset S that maximises total profit without exceeding W.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832104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83464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Equivalent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 capacity (W)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resource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CPU cores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weight (w_i)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 required by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cores for ML-Training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value (v_i)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/ priority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profit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workloads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ML-Training, DB-Instance…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task runs or doesn't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partial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297680"/>
            <a:ext cx="8321040" cy="685800"/>
          </a:xfrm>
          <a:prstGeom prst="rect">
            <a:avLst/>
          </a:prstGeom>
          <a:solidFill>
            <a:srgbClr val="EBF5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4370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37360" y="43708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Maximise  Σ p_i · x_i   subject to   Σ r_i · x_i ≤ W,   x_i ∈ {0, 1}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Dynamic Programming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7899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9144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Substructure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26187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solution to the full problem contains optimal solutions to sub-problems. For the knapsack, if task i is included optimally, the remaining tasks must also be allocated optimally within the reduced capacity.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176272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432304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2677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Sub-problems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615184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sub-problem (e.g. 'best allocation with 4 units and first 3 tasks') is solved many times in a naive recursion. DP solves each sub-problem once and stores the result in a table — eliminating redundant computation.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529584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785616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62102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Memoisation vs Tabulation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96849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(memoisation): recursive calls cached. Bottom-up (tabulation): iterative table filled in order. We use bottom-up — no stack overhead, cache-friendly, easier to backtrack for the selected set.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0/1 Knapsack Algorithm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5074920" cy="3200400"/>
          </a:xfrm>
          <a:prstGeom prst="rect">
            <a:avLst/>
          </a:prstGeom>
          <a:solidFill>
            <a:srgbClr val="0F1E35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778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Relation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E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dp[i][w] = max profit using first i tasks
         with capacity w
</a:t>
            </a:r>
            <a:pPr indent="0" marL="0">
              <a:buNone/>
            </a:pPr>
            <a:r>
              <a:rPr lang="en-US" sz="105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case: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dp[0][w] = 0  for all w
</a:t>
            </a:r>
            <a:pPr indent="0" marL="0">
              <a:buNone/>
            </a:pPr>
            <a:r>
              <a:rPr lang="en-US" sz="1050" b="1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Recurrence: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r_i &gt; w: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dp[i][w] = dp[i-1][w]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dp[i][w] = max(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dp[i-1][w],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dp[i-1][w - r_i] + p_i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0" y="804672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804672"/>
            <a:ext cx="2926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804672"/>
            <a:ext cx="292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841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115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(n+1)×(W+1) table filled with zeros.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600200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600200"/>
            <a:ext cx="2926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600200"/>
            <a:ext cx="292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16367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9110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task i and each capacity w, compute dp[i][w] using the recurrence.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395728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2395728"/>
            <a:ext cx="2926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395728"/>
            <a:ext cx="292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24323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Answer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27066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dp[n][W] holds the maximum achievable profit.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3191256"/>
            <a:ext cx="3063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3191256"/>
            <a:ext cx="2926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191256"/>
            <a:ext cx="292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3227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35021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back through the table to recover which tasks were selected.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931920"/>
            <a:ext cx="8321040" cy="804672"/>
          </a:xfrm>
          <a:prstGeom prst="rect">
            <a:avLst/>
          </a:prstGeom>
          <a:solidFill>
            <a:srgbClr val="EBF5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40416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O(n × W)   |   Space Complexity: O(n × W)  →  reducible to O(W) with 1-D rolling array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Cloud Budget: 10 CPU Units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Tasks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402336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DB-Instance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Batch-Job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API-Gateway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804672"/>
            <a:ext cx="4069080" cy="3630168"/>
          </a:xfrm>
          <a:prstGeom prst="rect">
            <a:avLst/>
          </a:prstGeom>
          <a:solidFill>
            <a:srgbClr val="0F2D4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00600" y="87782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Allocation Result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00600" y="13167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ML-Training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0" y="13167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3167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00600" y="18288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DB-Instance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0" y="18288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18288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00600" y="2340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Cache-Node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83680" y="23408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23408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00600" y="28529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Web-Server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83680" y="28529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89520" y="28529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3429000"/>
            <a:ext cx="4069080" cy="228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3493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83680" y="3493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589520" y="3493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11480" y="4498848"/>
            <a:ext cx="832104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94360" y="45811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Batch-Job (5 cores, profit 12) is excluded — including it would drop profit to 22. DP guarantees the globally optimal choice.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Table — Filling Process (capacity W = 6 for clarity)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dp[i][w] stores the maximum profit achievable using the first i tasks with capacity w. Highlighted cells show where a task was included (value improved over row above).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2788920"/>
        </p:xfrm>
        <a:graphic>
          <a:graphicData uri="http://schemas.openxmlformats.org/drawingml/2006/table">
            <a:tbl>
              <a:tblPr/>
              <a:tblGrid>
                <a:gridCol w="1737360"/>
                <a:gridCol w="941832"/>
                <a:gridCol w="941832"/>
                <a:gridCol w="941832"/>
                <a:gridCol w="941832"/>
                <a:gridCol w="941832"/>
                <a:gridCol w="941832"/>
                <a:gridCol w="941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\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w=6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i=0  (none)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  Web(2,6)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i=2  ML(4,10)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i=3  DB(3,7)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i=4  Cache(1,3)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977640"/>
            <a:ext cx="8321040" cy="868680"/>
          </a:xfrm>
          <a:prstGeom prst="rect">
            <a:avLst/>
          </a:prstGeom>
          <a:solidFill>
            <a:srgbClr val="EBF5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4059936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Backtrack: dp[4][6]=16 → Cache included (dp[4][6]≠dp[3][6]) → dp[3][5]=13 → DB included → dp[2][2]=6 → ML excluded (4&gt;2) → Web included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5120640" cy="3931920"/>
          </a:xfrm>
          <a:prstGeom prst="rect">
            <a:avLst/>
          </a:prstGeom>
          <a:solidFill>
            <a:srgbClr val="0B1C30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778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Core DP (src/knapsack.py)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480060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
</a:t>
            </a:r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950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
    resource: int
    profit:   int
</a:t>
            </a:r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50" dirty="0">
                <a:solidFill>
                  <a:srgbClr val="29B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(tasks, capacity):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len(tasks)
    dp = [[0]*(capacity+1)
          for _ in range(n+1)]
</a:t>
            </a:r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in range(1, n+1):
        task = tasks[i-1]
</a:t>
            </a:r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in range(capacity+1):
            dp[i][w] = dp[i-1][w]
</a:t>
            </a:r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task.resource &lt;= w:
                val = dp[i-1][w-task.resource]
                    + task.profit
</a:t>
            </a:r>
            <a:pPr indent="0" marL="0">
              <a:buNone/>
            </a:pPr>
            <a:r>
              <a:rPr lang="en-US" sz="950" dirty="0">
                <a:solidFill>
                  <a:srgbClr val="FF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&gt; dp[i][w]: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dp[i][w] = val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dp[n][capacity], selected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0" y="804672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877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Data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197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 with name, resource units required, and profit — clean mapping of the knapsack item abstraction.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184708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Fill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O(n×W) nested loops. Each cell computed once. No recursion overhead; cache-friendly row-by-row traversal.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2889504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2962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32826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from dp[n][W] upward. If dp[i][w] ≠ dp[i-1][w] then task i was included; decrement capacity accordingly.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3931920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4325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accepts custom tasks.json or runs a built-in 6-task demo. Prints the full DP table for inspection.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86384"/>
            <a:ext cx="16459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78638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841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115568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task definitions (name, resource, profit) or built-in demo. Supports custom cloud workload scenarios via tasks.json.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164592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5544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DP Engine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1883664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knapsack.py — bottom-up 2-D DP table builder + backtracking algorithm. Deterministic O(n×W) time, O(n×W) space.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322576"/>
            <a:ext cx="164592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232257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265176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CLI entry point. Prints input tasks, full DP table, optimal selection, resource utilization, and max profit.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164592" cy="65836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309067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145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3419856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docs/index.html + app.js — browser-based interactive visualiser (GitHub Pages). Enter tasks, see DP table and result live.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858768"/>
            <a:ext cx="164592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" y="385876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Suite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18795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benchmark.py — empirical runtime curves varying n (tasks) and W (capacity). Validates O(n×W) growth experimentally.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41605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778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— O(n × W)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3977640" cy="1920240"/>
        </p:xfrm>
        <a:graphic>
          <a:graphicData uri="http://schemas.openxmlformats.org/drawingml/2006/table">
            <a:tbl>
              <a:tblPr/>
              <a:tblGrid>
                <a:gridCol w="994410"/>
                <a:gridCol w="994410"/>
                <a:gridCol w="994410"/>
                <a:gridCol w="99441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µs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(impractical)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804672"/>
            <a:ext cx="3977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87782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 — O(n × W) → O(W)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07008"/>
          <a:ext cx="3794760" cy="1920240"/>
        </p:xfrm>
        <a:graphic>
          <a:graphicData uri="http://schemas.openxmlformats.org/drawingml/2006/table">
            <a:tbl>
              <a:tblPr/>
              <a:tblGrid>
                <a:gridCol w="1264920"/>
                <a:gridCol w="1264920"/>
                <a:gridCol w="1264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table; backtrack 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rolling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space; can't backtrack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Space-optimised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bitmask for selection 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Branch-Bound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Prunes tree; faster in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11480" y="3337560"/>
            <a:ext cx="8321040" cy="1508760"/>
          </a:xfrm>
          <a:prstGeom prst="rect">
            <a:avLst/>
          </a:prstGeom>
          <a:solidFill>
            <a:srgbClr val="EBF5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94360" y="34107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Pseudo-Polynomial Complexity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94360" y="37947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DP is O(n×W) — polynomial in n but exponential in the number of bits encoding W (i.e. log W). For large W, consider FPTAS (Fully Polynomial-Time Approximation Scheme) which achieves (1-ε) optimal in O(n²/ε) time, or Branch-and-Bound which prunes the search tree and is fast in practice for sparse high-profit solutions.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runtime measured on Python 3.13 / Intel Core i5 / 8 GB RAM. Tasks generated with fixed seed for reproducibility.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225296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225296"/>
          <a:ext cx="40690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3913632"/>
            <a:ext cx="8321040" cy="1069848"/>
          </a:xfrm>
          <a:prstGeom prst="rect">
            <a:avLst/>
          </a:prstGeom>
          <a:solidFill>
            <a:srgbClr val="0F2D4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" y="3986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94360" y="43708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both n and W — confirms O(n×W)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429000" y="3986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ms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429000" y="43708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n=2000, W=500 on standard hardware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263640" y="3986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263640" y="43708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typical cloud tasks (n&lt;100, W&lt;500)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Greedy? — DP vs Greedy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greedy algorithm (sort by profit/resource ratio, pick highest first) is fast but does NOT guarantee the optimal solution for the 0/1 Knapsack problem.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61872"/>
          <a:ext cx="8321040" cy="2880360"/>
        </p:xfrm>
        <a:graphic>
          <a:graphicData uri="http://schemas.openxmlformats.org/drawingml/2006/table">
            <a:tbl>
              <a:tblPr/>
              <a:tblGrid>
                <a:gridCol w="2194560"/>
                <a:gridCol w="3063240"/>
                <a:gridCol w="3063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(Ratio)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(0/1 Knapsack)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guaranteed — can miss global optimum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optimal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 — sort + 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× 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× W) or O(W)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tasks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well for fractional knapsack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0/1 constraint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suitability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leave resource unused sub-optimally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Maximises revenue within budget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Counter-example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{(3,4),(3,4),(5,7)} W=6 → greedy=7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→ 8  (pick both (3,4) items)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251960"/>
            <a:ext cx="8321040" cy="548640"/>
          </a:xfrm>
          <a:prstGeom prst="rect">
            <a:avLst/>
          </a:prstGeom>
          <a:solidFill>
            <a:srgbClr val="EBF5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433425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DP is the correct choice for 0/1 cloud resource allocation — greedy works only when tasks are fractionally divisible.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987552"/>
            <a:ext cx="27432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402336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guarantees the maximum-profit allocation — no greedy shortcut can match this for the 0/1 constraint.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402336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Tractable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7647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O(n×W) runtime is practical for real cloud scenarios (hundreds of tasks, thousands of resource units).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02336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5021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 table provides a complete audit trail — every allocation decision can be explained and reproduced.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402336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017520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5021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extends to multi-dimensional knapsack (CPU + RAM + bandwidth) and multi-period scheduling.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20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22960"/>
            <a:ext cx="5029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89611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Leiserson, Rivest, Stein — Introduction to Algorithms, 3rd 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2435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15: Dynamic Programming. MIT Press, 2009. Foundational reference for the DP framework and correctness proofs.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47088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47088"/>
            <a:ext cx="5029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47088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Kellerer, Pferschy, Pisinger — Knapsack Problems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267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Springer, 2004. Comprehensive treatment of all knapsack variants, approximation schemes, and exact algorithms.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871216"/>
            <a:ext cx="5029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7121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9443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Buyya, Broberg, Goscinski — Cloud Computing: Principles and Paradigms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Wiley, 2011. Background on cloud resource management models and SLA-driven scheduling.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895344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895344"/>
            <a:ext cx="5029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9534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96849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 — github.com/Mohamed-Ali-4/cloud-resource-allocation-dp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31596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benchmark scripts, web frontend, and ADA report for this implementation.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Resource Allocation – DP Knapsack</dc:title>
  <dc:subject>PptxGenJS Presentation</dc:subject>
  <dc:creator>PptxGenJS</dc:creator>
  <cp:lastModifiedBy>PptxGenJS</cp:lastModifiedBy>
  <cp:revision>1</cp:revision>
  <dcterms:created xsi:type="dcterms:W3CDTF">2026-06-09T15:36:20Z</dcterms:created>
  <dcterms:modified xsi:type="dcterms:W3CDTF">2026-06-09T15:36:20Z</dcterms:modified>
</cp:coreProperties>
</file>